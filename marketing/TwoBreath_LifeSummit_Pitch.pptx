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2C9E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872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208" y="1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4692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qINmxnioGOk?feature=oembed" TargetMode="Externa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BFBBC832-1951-3117-EBBC-8603E34B9B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7422" b="20178"/>
          <a:stretch>
            <a:fillRect/>
          </a:stretch>
        </p:blipFill>
        <p:spPr>
          <a:xfrm>
            <a:off x="1450451" y="36862"/>
            <a:ext cx="6149672" cy="4671703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645920" y="2034540"/>
            <a:ext cx="4937760" cy="4937760"/>
          </a:xfrm>
          <a:prstGeom prst="ellipse">
            <a:avLst/>
          </a:prstGeom>
          <a:solidFill>
            <a:srgbClr val="C9A84C">
              <a:alpha val="1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Shape 9"/>
          <p:cNvSpPr/>
          <p:nvPr/>
        </p:nvSpPr>
        <p:spPr>
          <a:xfrm>
            <a:off x="4910328" y="1513332"/>
            <a:ext cx="82296" cy="82296"/>
          </a:xfrm>
          <a:prstGeom prst="ellipse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DE" dirty="0"/>
          </a:p>
        </p:txBody>
      </p:sp>
      <p:sp>
        <p:nvSpPr>
          <p:cNvPr id="13" name="Text 10"/>
          <p:cNvSpPr/>
          <p:nvPr/>
        </p:nvSpPr>
        <p:spPr>
          <a:xfrm>
            <a:off x="1450451" y="3155275"/>
            <a:ext cx="6149672" cy="274320"/>
          </a:xfrm>
          <a:prstGeom prst="rect">
            <a:avLst/>
          </a:prstGeom>
          <a:solidFill>
            <a:srgbClr val="000000">
              <a:alpha val="47451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600" dirty="0">
                <a:solidFill>
                  <a:srgbClr val="C9A8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Our STORY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10487" y="3497580"/>
            <a:ext cx="8229600" cy="1005840"/>
          </a:xfrm>
          <a:prstGeom prst="rect">
            <a:avLst/>
          </a:prstGeom>
          <a:solidFill>
            <a:schemeClr val="tx1">
              <a:alpha val="53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F5F0E8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One Breath </a:t>
            </a:r>
            <a:r>
              <a:rPr lang="en-US" sz="6400" i="1" dirty="0">
                <a:solidFill>
                  <a:srgbClr val="DABE6A"/>
                </a:solidFill>
                <a:latin typeface="Playfair Display Black" pitchFamily="34" charset="0"/>
                <a:ea typeface="Playfair Display Medium" pitchFamily="34" charset="-122"/>
                <a:cs typeface="Playfair Display Medium" pitchFamily="34" charset="-120"/>
              </a:rPr>
              <a:t>Two Souls</a:t>
            </a:r>
            <a:endParaRPr lang="en-US" sz="6400" dirty="0"/>
          </a:p>
        </p:txBody>
      </p:sp>
      <p:sp>
        <p:nvSpPr>
          <p:cNvPr id="17" name="Shape 14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6350">
            <a:solidFill>
              <a:srgbClr val="7A726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Text 15"/>
          <p:cNvSpPr/>
          <p:nvPr/>
        </p:nvSpPr>
        <p:spPr>
          <a:xfrm>
            <a:off x="457200" y="48143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7A72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ONCE WE WERE ONE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394960" y="48143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7A72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LIFE SUMMIT BERLIN · STARTUP DAY  </a:t>
            </a:r>
            <a:r>
              <a:rPr lang="en-US" sz="750" kern="0" spc="200" dirty="0">
                <a:solidFill>
                  <a:srgbClr val="C9A8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08</a:t>
            </a:r>
            <a:endParaRPr lang="en-US" sz="7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CC37DFF-F096-EF41-30C9-91ADE1066D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91947"/>
            <a:ext cx="2095500" cy="5842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463040"/>
            <a:ext cx="4937760" cy="4937760"/>
          </a:xfrm>
          <a:prstGeom prst="ellipse">
            <a:avLst/>
          </a:prstGeom>
          <a:solidFill>
            <a:srgbClr val="2D9E8A">
              <a:alpha val="14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-1645920" y="2034540"/>
            <a:ext cx="4937760" cy="4937760"/>
          </a:xfrm>
          <a:prstGeom prst="ellipse">
            <a:avLst/>
          </a:prstGeom>
          <a:solidFill>
            <a:srgbClr val="C9A84C">
              <a:alpha val="1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237744" y="164592"/>
            <a:ext cx="292608" cy="292608"/>
          </a:xfrm>
          <a:prstGeom prst="ellipse">
            <a:avLst/>
          </a:prstGeom>
          <a:solidFill>
            <a:srgbClr val="2D9E8A">
              <a:alpha val="30000"/>
            </a:srgbClr>
          </a:solidFill>
          <a:ln w="12700">
            <a:solidFill>
              <a:srgbClr val="2D9E8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347472" y="164592"/>
            <a:ext cx="292608" cy="292608"/>
          </a:xfrm>
          <a:prstGeom prst="ellipse">
            <a:avLst/>
          </a:prstGeom>
          <a:solidFill>
            <a:srgbClr val="C9A84C">
              <a:alpha val="30000"/>
            </a:srgb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786384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00" dirty="0">
                <a:solidFill>
                  <a:srgbClr val="F5F0E8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twobreath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600" dirty="0">
                <a:solidFill>
                  <a:srgbClr val="2D9E8A"/>
                </a:solidFill>
                <a:latin typeface="JetBrains Mono" pitchFamily="34" charset="0"/>
                <a:ea typeface="JetBrains Mono" pitchFamily="34" charset="-122"/>
              </a:rPr>
              <a:t>Our Story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rgbClr val="F5F0E8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We build a ritual
</a:t>
            </a:r>
            <a:r>
              <a:rPr lang="en-US" sz="3400" i="1" dirty="0">
                <a:solidFill>
                  <a:srgbClr val="DABE6A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every morning …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GB" sz="1300" dirty="0">
                <a:solidFill>
                  <a:srgbClr val="B9B0A2"/>
                </a:solidFill>
                <a:latin typeface="DM Sans" pitchFamily="34" charset="0"/>
              </a:rPr>
              <a:t>open the window, welcome the day, and start breathing together, hand in hand. Synchronizing our breath, our hearts, our souls.</a:t>
            </a:r>
            <a:r>
              <a:rPr lang="en-US" sz="1300" dirty="0">
                <a:solidFill>
                  <a:srgbClr val="B9B0A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bond, the thing that actually keeps two people alive was forgotten.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52160" y="1051560"/>
            <a:ext cx="2834640" cy="1051560"/>
          </a:xfrm>
          <a:prstGeom prst="rect">
            <a:avLst/>
          </a:prstGeom>
          <a:solidFill>
            <a:srgbClr val="14110F"/>
          </a:solidFill>
          <a:ln w="6350">
            <a:solidFill>
              <a:srgbClr val="7A726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Shape 9"/>
          <p:cNvSpPr/>
          <p:nvPr/>
        </p:nvSpPr>
        <p:spPr>
          <a:xfrm>
            <a:off x="5852160" y="1051560"/>
            <a:ext cx="54864" cy="105156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6016752" y="1143000"/>
            <a:ext cx="960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C9A84C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15%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040880" y="11430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5F0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shorter lifespan · loneliness (Holt-Lunstad)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52160" y="2267712"/>
            <a:ext cx="2834640" cy="1051560"/>
          </a:xfrm>
          <a:prstGeom prst="rect">
            <a:avLst/>
          </a:prstGeom>
          <a:solidFill>
            <a:srgbClr val="14110F"/>
          </a:solidFill>
          <a:ln w="6350">
            <a:solidFill>
              <a:srgbClr val="7A726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Shape 13"/>
          <p:cNvSpPr/>
          <p:nvPr/>
        </p:nvSpPr>
        <p:spPr>
          <a:xfrm>
            <a:off x="5852160" y="2267712"/>
            <a:ext cx="54864" cy="1051560"/>
          </a:xfrm>
          <a:prstGeom prst="rect">
            <a:avLst/>
          </a:prstGeom>
          <a:solidFill>
            <a:srgbClr val="2D9E8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6016752" y="2359152"/>
            <a:ext cx="960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2D9E8A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↑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7040880" y="2359152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5F0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paired breathing lifts vagal tone (polyvagal)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52160" y="3483864"/>
            <a:ext cx="2834640" cy="1051560"/>
          </a:xfrm>
          <a:prstGeom prst="rect">
            <a:avLst/>
          </a:prstGeom>
          <a:solidFill>
            <a:srgbClr val="14110F"/>
          </a:solidFill>
          <a:ln w="6350">
            <a:solidFill>
              <a:srgbClr val="7A726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Shape 17"/>
          <p:cNvSpPr/>
          <p:nvPr/>
        </p:nvSpPr>
        <p:spPr>
          <a:xfrm>
            <a:off x="5852160" y="3483864"/>
            <a:ext cx="54864" cy="1051560"/>
          </a:xfrm>
          <a:prstGeom prst="rect">
            <a:avLst/>
          </a:prstGeom>
          <a:solidFill>
            <a:srgbClr val="C96B6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0" name="Text 18"/>
          <p:cNvSpPr/>
          <p:nvPr/>
        </p:nvSpPr>
        <p:spPr>
          <a:xfrm>
            <a:off x="6016752" y="3575304"/>
            <a:ext cx="960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C96B6B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0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7040880" y="3575304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5F0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mainstream apps ship a paired-breath ritual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6350">
            <a:solidFill>
              <a:srgbClr val="7A726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3" name="Text 21"/>
          <p:cNvSpPr/>
          <p:nvPr/>
        </p:nvSpPr>
        <p:spPr>
          <a:xfrm>
            <a:off x="457200" y="48143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7A72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THE PROBLEM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394960" y="48143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7A72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LIFE SUMMIT BERLIN · STARTUP DAY  </a:t>
            </a:r>
            <a:r>
              <a:rPr lang="en-US" sz="750" kern="0" spc="200" dirty="0">
                <a:solidFill>
                  <a:srgbClr val="C9A8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08</a:t>
            </a:r>
            <a:endParaRPr lang="en-US" sz="75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463040"/>
            <a:ext cx="4937760" cy="4937760"/>
          </a:xfrm>
          <a:prstGeom prst="ellipse">
            <a:avLst/>
          </a:prstGeom>
          <a:solidFill>
            <a:srgbClr val="2D9E8A">
              <a:alpha val="14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-1610164" y="1966807"/>
            <a:ext cx="4937760" cy="4937760"/>
          </a:xfrm>
          <a:prstGeom prst="ellipse">
            <a:avLst/>
          </a:prstGeom>
          <a:solidFill>
            <a:srgbClr val="C9A84C">
              <a:alpha val="1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237744" y="164592"/>
            <a:ext cx="292608" cy="292608"/>
          </a:xfrm>
          <a:prstGeom prst="ellipse">
            <a:avLst/>
          </a:prstGeom>
          <a:solidFill>
            <a:srgbClr val="2D9E8A">
              <a:alpha val="30000"/>
            </a:srgbClr>
          </a:solidFill>
          <a:ln w="12700">
            <a:solidFill>
              <a:srgbClr val="2D9E8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347472" y="164592"/>
            <a:ext cx="292608" cy="292608"/>
          </a:xfrm>
          <a:prstGeom prst="ellipse">
            <a:avLst/>
          </a:prstGeom>
          <a:solidFill>
            <a:srgbClr val="C9A84C">
              <a:alpha val="30000"/>
            </a:srgb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786384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00" dirty="0">
                <a:solidFill>
                  <a:srgbClr val="F5F0E8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twobreath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600" dirty="0">
                <a:solidFill>
                  <a:srgbClr val="2D9E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THREAD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5486400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F5F0E8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No App Subscriptions</a:t>
            </a:r>
          </a:p>
          <a:p>
            <a:pPr marL="0" indent="0" algn="l">
              <a:buNone/>
            </a:pPr>
            <a:r>
              <a:rPr lang="en-US" sz="3400" i="1" dirty="0">
                <a:solidFill>
                  <a:srgbClr val="DABE6A"/>
                </a:solidFill>
                <a:latin typeface="Playfair Display Black" pitchFamily="34" charset="0"/>
              </a:rPr>
              <a:t>So we build our own</a:t>
            </a:r>
          </a:p>
        </p:txBody>
      </p:sp>
      <p:sp>
        <p:nvSpPr>
          <p:cNvPr id="10" name="Text 7"/>
          <p:cNvSpPr/>
          <p:nvPr/>
        </p:nvSpPr>
        <p:spPr>
          <a:xfrm>
            <a:off x="482992" y="25146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i="1" dirty="0">
                <a:solidFill>
                  <a:srgbClr val="C9A84C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85912" y="25328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5F0E8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Two phones.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75948" y="2775839"/>
            <a:ext cx="4754880" cy="300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9B0A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for each partner. Shared ritual. Local pairing – keep data local.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82992" y="32461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i="1" dirty="0">
                <a:solidFill>
                  <a:srgbClr val="C9A84C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85912" y="32644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5F0E8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One breath.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85912" y="3521456"/>
            <a:ext cx="4754880" cy="292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9B0A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Voice-guided in our own voices · Inhale together. Exhale together.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82992" y="39776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i="1" dirty="0">
                <a:solidFill>
                  <a:srgbClr val="C9A84C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985912" y="39959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5F0E8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Daily by design.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85912" y="4240108"/>
            <a:ext cx="4754880" cy="345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9B0A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Streaks · Apple Health · Apple Watch. The thread shows up on your wrist.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6350">
            <a:solidFill>
              <a:srgbClr val="7A726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Text 17"/>
          <p:cNvSpPr/>
          <p:nvPr/>
        </p:nvSpPr>
        <p:spPr>
          <a:xfrm>
            <a:off x="457200" y="48143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7A72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THE THREAD · IPHONE + APPLE WATCH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5394960" y="48143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7A72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LIFE SUMMIT BERLIN · STARTUP DAY  </a:t>
            </a:r>
            <a:r>
              <a:rPr lang="en-US" sz="750" kern="0" spc="200" dirty="0">
                <a:solidFill>
                  <a:srgbClr val="C9A8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08</a:t>
            </a:r>
            <a:endParaRPr lang="en-US" sz="7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540F78C-62C3-9320-5FB8-41FB99D55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8031" y="132393"/>
            <a:ext cx="2117539" cy="460089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463040"/>
            <a:ext cx="4937760" cy="4937760"/>
          </a:xfrm>
          <a:prstGeom prst="ellipse">
            <a:avLst/>
          </a:prstGeom>
          <a:solidFill>
            <a:srgbClr val="2D9E8A">
              <a:alpha val="14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-1645920" y="2034540"/>
            <a:ext cx="4937760" cy="4937760"/>
          </a:xfrm>
          <a:prstGeom prst="ellipse">
            <a:avLst/>
          </a:prstGeom>
          <a:solidFill>
            <a:srgbClr val="C9A84C">
              <a:alpha val="1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237744" y="164592"/>
            <a:ext cx="292608" cy="292608"/>
          </a:xfrm>
          <a:prstGeom prst="ellipse">
            <a:avLst/>
          </a:prstGeom>
          <a:solidFill>
            <a:srgbClr val="2D9E8A">
              <a:alpha val="30000"/>
            </a:srgbClr>
          </a:solidFill>
          <a:ln w="12700">
            <a:solidFill>
              <a:srgbClr val="2D9E8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347472" y="164592"/>
            <a:ext cx="292608" cy="292608"/>
          </a:xfrm>
          <a:prstGeom prst="ellipse">
            <a:avLst/>
          </a:prstGeom>
          <a:solidFill>
            <a:srgbClr val="C9A84C">
              <a:alpha val="30000"/>
            </a:srgb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786384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00" dirty="0">
                <a:solidFill>
                  <a:srgbClr val="F5F0E8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twobreath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600" dirty="0">
                <a:solidFill>
                  <a:srgbClr val="2D9E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Our PRACTICE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dirty="0">
                <a:solidFill>
                  <a:srgbClr val="F5F0E8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Eight years </a:t>
            </a:r>
            <a:r>
              <a:rPr lang="en-US" sz="3800" i="1" dirty="0">
                <a:solidFill>
                  <a:srgbClr val="DABE6A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a day.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457200" y="233172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5F0E8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We identified leading markets and optimize our app.
</a:t>
            </a:r>
            <a:r>
              <a:rPr lang="en-US" sz="1700" i="1" dirty="0">
                <a:solidFill>
                  <a:srgbClr val="B9B0A2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Berlin → Tokyo → California.
</a:t>
            </a:r>
            <a:r>
              <a:rPr lang="en-US" sz="1700" i="1" dirty="0">
                <a:solidFill>
                  <a:srgbClr val="2C9E8A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Backed by science.</a:t>
            </a:r>
            <a:endParaRPr lang="en-US" sz="1700" dirty="0">
              <a:solidFill>
                <a:srgbClr val="2C9E8A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457200" y="39776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C9A8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 didn't research the user. We are the user. The data on the right is ours.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6350">
            <a:solidFill>
              <a:srgbClr val="7A726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Text 10"/>
          <p:cNvSpPr/>
          <p:nvPr/>
        </p:nvSpPr>
        <p:spPr>
          <a:xfrm>
            <a:off x="457200" y="48143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7A72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EIGHT YEARS A DAY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5394960" y="48143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7A72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LIFE SUMMIT BERLIN · STARTUP DAY  </a:t>
            </a:r>
            <a:r>
              <a:rPr lang="en-US" sz="750" kern="0" spc="200" dirty="0">
                <a:solidFill>
                  <a:srgbClr val="C9A8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08</a:t>
            </a:r>
            <a:endParaRPr lang="en-US" sz="7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8CCAEA2-5D65-6AB8-2F1B-84639C2C2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818" y="0"/>
            <a:ext cx="2075462" cy="450947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188720"/>
            <a:ext cx="4937760" cy="4937760"/>
          </a:xfrm>
          <a:prstGeom prst="ellipse">
            <a:avLst/>
          </a:prstGeom>
          <a:solidFill>
            <a:srgbClr val="2D9E8A">
              <a:alpha val="14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-1645920" y="2034540"/>
            <a:ext cx="4937760" cy="4937760"/>
          </a:xfrm>
          <a:prstGeom prst="ellipse">
            <a:avLst/>
          </a:prstGeom>
          <a:solidFill>
            <a:srgbClr val="C9A84C">
              <a:alpha val="1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237744" y="164592"/>
            <a:ext cx="292608" cy="292608"/>
          </a:xfrm>
          <a:prstGeom prst="ellipse">
            <a:avLst/>
          </a:prstGeom>
          <a:solidFill>
            <a:srgbClr val="2D9E8A">
              <a:alpha val="30000"/>
            </a:srgbClr>
          </a:solidFill>
          <a:ln w="12700">
            <a:solidFill>
              <a:srgbClr val="2D9E8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347472" y="164592"/>
            <a:ext cx="292608" cy="292608"/>
          </a:xfrm>
          <a:prstGeom prst="ellipse">
            <a:avLst/>
          </a:prstGeom>
          <a:solidFill>
            <a:srgbClr val="C9A84C">
              <a:alpha val="30000"/>
            </a:srgb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786384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00" dirty="0">
                <a:solidFill>
                  <a:srgbClr val="F5F0E8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twobreath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600" dirty="0">
                <a:solidFill>
                  <a:srgbClr val="2D9E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EVIDENCE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F5F0E8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What science </a:t>
            </a:r>
            <a:br>
              <a:rPr lang="en-US" sz="3200" dirty="0">
                <a:solidFill>
                  <a:srgbClr val="F5F0E8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</a:br>
            <a:r>
              <a:rPr lang="en-US" sz="3200" i="1" dirty="0">
                <a:solidFill>
                  <a:srgbClr val="DABE6A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already knows.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i="1" dirty="0">
                <a:solidFill>
                  <a:srgbClr val="C9A84C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097280" y="225856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0E8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Paired breathing trains the vagus nerve.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2532888"/>
            <a:ext cx="3991187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9B0A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synchronized slow breathing co-regulates two nervous systems. HRV up. Cortisol down. Measurable in two minutes.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072384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i="1" dirty="0">
                <a:solidFill>
                  <a:srgbClr val="C9A84C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097280" y="309067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0E8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Strong bonds add years to life.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1" y="33649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9B0A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chronic loneliness shortens lifespan ~15%. Strong daily connection rivals diet and exercise as a longevity factor.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904488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i="1" dirty="0">
                <a:solidFill>
                  <a:srgbClr val="C9A84C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097280" y="392277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0E8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Wellness is a $80B market for individuals.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4197095"/>
            <a:ext cx="3931920" cy="39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9B0A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Growing ~15% per year. Couples paired-breath rituals = a category that does not yet exist. 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6350">
            <a:solidFill>
              <a:srgbClr val="7A726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457200" y="48143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7A72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THE EVIDENCE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394960" y="48143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7A72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LIFE SUMMIT BERLIN · STARTUP DAY  </a:t>
            </a:r>
            <a:r>
              <a:rPr lang="en-US" sz="750" kern="0" spc="200" dirty="0">
                <a:solidFill>
                  <a:srgbClr val="C9A8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08</a:t>
            </a:r>
            <a:endParaRPr lang="en-US" sz="750" dirty="0"/>
          </a:p>
        </p:txBody>
      </p:sp>
      <p:pic>
        <p:nvPicPr>
          <p:cNvPr id="23" name="Online Media 22" descr="4 Simple Ways to Strengthen Your Marriage">
            <a:hlinkClick r:id="" action="ppaction://media"/>
            <a:extLst>
              <a:ext uri="{FF2B5EF4-FFF2-40B4-BE49-F238E27FC236}">
                <a16:creationId xmlns:a16="http://schemas.microsoft.com/office/drawing/2014/main" id="{D33B883B-C5C0-2505-2888-CB9DEEE47F0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rcRect l="29280" r="28686"/>
          <a:stretch>
            <a:fillRect/>
          </a:stretch>
        </p:blipFill>
        <p:spPr>
          <a:xfrm>
            <a:off x="5306763" y="0"/>
            <a:ext cx="3837236" cy="5157921"/>
          </a:xfrm>
          <a:prstGeom prst="rect">
            <a:avLst/>
          </a:prstGeom>
          <a:ln>
            <a:solidFill>
              <a:schemeClr val="accent1">
                <a:alpha val="50060"/>
              </a:schemeClr>
            </a:solidFill>
          </a:ln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463040"/>
            <a:ext cx="4937760" cy="4937760"/>
          </a:xfrm>
          <a:prstGeom prst="ellipse">
            <a:avLst/>
          </a:prstGeom>
          <a:solidFill>
            <a:srgbClr val="2D9E8A">
              <a:alpha val="14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-1645920" y="2034540"/>
            <a:ext cx="4937760" cy="4937760"/>
          </a:xfrm>
          <a:prstGeom prst="ellipse">
            <a:avLst/>
          </a:prstGeom>
          <a:solidFill>
            <a:srgbClr val="C9A84C">
              <a:alpha val="1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237744" y="164592"/>
            <a:ext cx="292608" cy="292608"/>
          </a:xfrm>
          <a:prstGeom prst="ellipse">
            <a:avLst/>
          </a:prstGeom>
          <a:solidFill>
            <a:srgbClr val="2D9E8A">
              <a:alpha val="30000"/>
            </a:srgbClr>
          </a:solidFill>
          <a:ln w="12700">
            <a:solidFill>
              <a:srgbClr val="2D9E8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347472" y="164592"/>
            <a:ext cx="292608" cy="292608"/>
          </a:xfrm>
          <a:prstGeom prst="ellipse">
            <a:avLst/>
          </a:prstGeom>
          <a:solidFill>
            <a:srgbClr val="C9A84C">
              <a:alpha val="30000"/>
            </a:srgb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786384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00" dirty="0">
                <a:solidFill>
                  <a:srgbClr val="F5F0E8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twobreath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600" dirty="0">
                <a:solidFill>
                  <a:srgbClr val="2D9E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TRUST BY DESIGN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F5F0E8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One phone for the breath.
</a:t>
            </a:r>
            <a:r>
              <a:rPr lang="en-US" sz="2600" i="1" dirty="0">
                <a:solidFill>
                  <a:srgbClr val="DABE6A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My phone for my data.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457200" y="2423160"/>
            <a:ext cx="54864" cy="50292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8"/>
          <p:cNvSpPr/>
          <p:nvPr/>
        </p:nvSpPr>
        <p:spPr>
          <a:xfrm>
            <a:off x="640080" y="2423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500" dirty="0">
                <a:solidFill>
                  <a:srgbClr val="C9A8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PAIRED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874520" y="244144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9B0A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Local pairing code · no cloud account required to start the ritual.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063240"/>
            <a:ext cx="54864" cy="50292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Text 11"/>
          <p:cNvSpPr/>
          <p:nvPr/>
        </p:nvSpPr>
        <p:spPr>
          <a:xfrm>
            <a:off x="640080" y="3063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500" dirty="0">
                <a:solidFill>
                  <a:srgbClr val="C9A8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PRIVATE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874520" y="308152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9B0A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HealthKit on-device. Each partner’s VO2Max and HRV stays on our own iPhone.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3703320"/>
            <a:ext cx="54864" cy="50292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7" name="Text 14"/>
          <p:cNvSpPr/>
          <p:nvPr/>
        </p:nvSpPr>
        <p:spPr>
          <a:xfrm>
            <a:off x="640080" y="3703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500" dirty="0">
                <a:solidFill>
                  <a:srgbClr val="C9A8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PORTABLE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874520" y="372160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9B0A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Works on Apple Watch · the breath shows up on the wrist, no phone needed.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44119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2D9E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 TESTFLIGHT - LAUNCHING JULY 1, 2026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6350">
            <a:solidFill>
              <a:srgbClr val="7A726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Text 18"/>
          <p:cNvSpPr/>
          <p:nvPr/>
        </p:nvSpPr>
        <p:spPr>
          <a:xfrm>
            <a:off x="457200" y="48143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7A72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· TRUST BY DESIGN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394960" y="48143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7A72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LIFE SUMMIT BERLIN · STARTUP DAY  </a:t>
            </a:r>
            <a:r>
              <a:rPr lang="en-US" sz="750" kern="0" spc="200" dirty="0">
                <a:solidFill>
                  <a:srgbClr val="C9A8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08</a:t>
            </a:r>
            <a:endParaRPr lang="en-US" sz="7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2EB6ECD-8FCF-28BC-3059-0C70B1573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4" y="169787"/>
            <a:ext cx="2048256" cy="445036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463040"/>
            <a:ext cx="4937760" cy="4937760"/>
          </a:xfrm>
          <a:prstGeom prst="ellipse">
            <a:avLst/>
          </a:prstGeom>
          <a:solidFill>
            <a:srgbClr val="2D9E8A">
              <a:alpha val="14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-1645920" y="2034540"/>
            <a:ext cx="4937760" cy="4937760"/>
          </a:xfrm>
          <a:prstGeom prst="ellipse">
            <a:avLst/>
          </a:prstGeom>
          <a:solidFill>
            <a:srgbClr val="C9A84C">
              <a:alpha val="1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237744" y="164592"/>
            <a:ext cx="292608" cy="292608"/>
          </a:xfrm>
          <a:prstGeom prst="ellipse">
            <a:avLst/>
          </a:prstGeom>
          <a:solidFill>
            <a:srgbClr val="2D9E8A">
              <a:alpha val="30000"/>
            </a:srgbClr>
          </a:solidFill>
          <a:ln w="12700">
            <a:solidFill>
              <a:srgbClr val="2D9E8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347472" y="164592"/>
            <a:ext cx="292608" cy="292608"/>
          </a:xfrm>
          <a:prstGeom prst="ellipse">
            <a:avLst/>
          </a:prstGeom>
          <a:solidFill>
            <a:srgbClr val="C9A84C">
              <a:alpha val="30000"/>
            </a:srgb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786384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00" dirty="0">
                <a:solidFill>
                  <a:srgbClr val="F5F0E8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twobreath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600" dirty="0">
                <a:solidFill>
                  <a:srgbClr val="2D9E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WE'RE ASKING FOR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5F0E8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We're not raising capital.
</a:t>
            </a:r>
            <a:r>
              <a:rPr lang="en-US" sz="2800" i="1" dirty="0">
                <a:solidFill>
                  <a:srgbClr val="DABE6A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We're recruiting partners.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023360" cy="1078992"/>
          </a:xfrm>
          <a:prstGeom prst="rect">
            <a:avLst/>
          </a:prstGeom>
          <a:solidFill>
            <a:srgbClr val="14110F"/>
          </a:solidFill>
          <a:ln w="6350">
            <a:solidFill>
              <a:srgbClr val="7A726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4023360" cy="3657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640080" y="24140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0" dirty="0">
                <a:solidFill>
                  <a:srgbClr val="C9A8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DiGA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F5F0E8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Digitale Gesundheitsanwendung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" y="299923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9B0A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Prescription-grade reimbursement by German statutory health insurers. Couples co-regulation as covered care.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90288" y="2286000"/>
            <a:ext cx="4023360" cy="1078992"/>
          </a:xfrm>
          <a:prstGeom prst="rect">
            <a:avLst/>
          </a:prstGeom>
          <a:solidFill>
            <a:srgbClr val="14110F"/>
          </a:solidFill>
          <a:ln w="6350">
            <a:solidFill>
              <a:srgbClr val="7A726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Shape 13"/>
          <p:cNvSpPr/>
          <p:nvPr/>
        </p:nvSpPr>
        <p:spPr>
          <a:xfrm>
            <a:off x="4590288" y="2286000"/>
            <a:ext cx="4023360" cy="36576"/>
          </a:xfrm>
          <a:prstGeom prst="rect">
            <a:avLst/>
          </a:prstGeom>
          <a:solidFill>
            <a:srgbClr val="2D9E8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4773168" y="24140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0" dirty="0">
                <a:solidFill>
                  <a:srgbClr val="2D9E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INSURERS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73168" y="26517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F5F0E8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Health insurer pilots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773168" y="299923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9B0A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TK, Barmer, AOK Plus: bonded couples lower healthcare costs. Pilot integration with Apple Health outcomes.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4023360" cy="1078992"/>
          </a:xfrm>
          <a:prstGeom prst="rect">
            <a:avLst/>
          </a:prstGeom>
          <a:solidFill>
            <a:srgbClr val="14110F"/>
          </a:solidFill>
          <a:ln w="6350">
            <a:solidFill>
              <a:srgbClr val="7A726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4023360" cy="36576"/>
          </a:xfrm>
          <a:prstGeom prst="rect">
            <a:avLst/>
          </a:prstGeom>
          <a:solidFill>
            <a:srgbClr val="3DBFA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1" name="Text 19"/>
          <p:cNvSpPr/>
          <p:nvPr/>
        </p:nvSpPr>
        <p:spPr>
          <a:xfrm>
            <a:off x="640080" y="360273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0" dirty="0">
                <a:solidFill>
                  <a:srgbClr val="3DBF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CLINICS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" y="38404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F5F0E8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Longevity &amp; retreat partners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0080" y="418795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9B0A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Lanserhof-style centers, couples retreats, fertility clinics. TwoBreath as the take-home daily ritual.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90288" y="3474720"/>
            <a:ext cx="4023360" cy="1078992"/>
          </a:xfrm>
          <a:prstGeom prst="rect">
            <a:avLst/>
          </a:prstGeom>
          <a:solidFill>
            <a:srgbClr val="14110F"/>
          </a:solidFill>
          <a:ln w="6350">
            <a:solidFill>
              <a:srgbClr val="7A726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Shape 23"/>
          <p:cNvSpPr/>
          <p:nvPr/>
        </p:nvSpPr>
        <p:spPr>
          <a:xfrm>
            <a:off x="4590288" y="3474720"/>
            <a:ext cx="4023360" cy="36576"/>
          </a:xfrm>
          <a:prstGeom prst="rect">
            <a:avLst/>
          </a:prstGeom>
          <a:solidFill>
            <a:srgbClr val="C96B6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6" name="Text 24"/>
          <p:cNvSpPr/>
          <p:nvPr/>
        </p:nvSpPr>
        <p:spPr>
          <a:xfrm>
            <a:off x="4773168" y="360273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0" dirty="0">
                <a:solidFill>
                  <a:srgbClr val="C9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COMMUNITY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73168" y="38404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F5F0E8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Breath educators · therapists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773168" y="418795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9B0A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Wim Hof / Buteyko / tantra teachers · couples coaches, </a:t>
            </a:r>
            <a:r>
              <a:rPr lang="en-US" sz="950" dirty="0" err="1">
                <a:solidFill>
                  <a:srgbClr val="B9B0A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therapeuts</a:t>
            </a:r>
            <a:r>
              <a:rPr lang="en-US" sz="950" dirty="0">
                <a:solidFill>
                  <a:srgbClr val="B9B0A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Co-create the awareness movement around the bond.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6350">
            <a:solidFill>
              <a:srgbClr val="7A726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0" name="Text 28"/>
          <p:cNvSpPr/>
          <p:nvPr/>
        </p:nvSpPr>
        <p:spPr>
          <a:xfrm>
            <a:off x="457200" y="48143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7A72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· PARTNERSHIPS · NOT CAPITAL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394960" y="48143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7A72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LIFE SUMMIT BERLIN · STARTUP DAY  </a:t>
            </a:r>
            <a:r>
              <a:rPr lang="en-US" sz="750" kern="0" spc="200" dirty="0">
                <a:solidFill>
                  <a:srgbClr val="C9A8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08</a:t>
            </a:r>
            <a:endParaRPr lang="en-US" sz="75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463040"/>
            <a:ext cx="4937760" cy="4937760"/>
          </a:xfrm>
          <a:prstGeom prst="ellipse">
            <a:avLst/>
          </a:prstGeom>
          <a:solidFill>
            <a:srgbClr val="2D9E8A">
              <a:alpha val="14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-1645920" y="2011680"/>
            <a:ext cx="4937760" cy="4937760"/>
          </a:xfrm>
          <a:prstGeom prst="ellipse">
            <a:avLst/>
          </a:prstGeom>
          <a:solidFill>
            <a:srgbClr val="C9A84C">
              <a:alpha val="1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237744" y="164592"/>
            <a:ext cx="292608" cy="292608"/>
          </a:xfrm>
          <a:prstGeom prst="ellipse">
            <a:avLst/>
          </a:prstGeom>
          <a:solidFill>
            <a:srgbClr val="2D9E8A">
              <a:alpha val="30000"/>
            </a:srgbClr>
          </a:solidFill>
          <a:ln w="12700">
            <a:solidFill>
              <a:srgbClr val="2D9E8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347472" y="164592"/>
            <a:ext cx="292608" cy="292608"/>
          </a:xfrm>
          <a:prstGeom prst="ellipse">
            <a:avLst/>
          </a:prstGeom>
          <a:solidFill>
            <a:srgbClr val="C9A84C">
              <a:alpha val="30000"/>
            </a:srgb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786384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00" dirty="0">
                <a:solidFill>
                  <a:srgbClr val="F5F0E8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twobreath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600" dirty="0">
                <a:solidFill>
                  <a:srgbClr val="2D9E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INVITATION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dirty="0">
                <a:solidFill>
                  <a:srgbClr val="F5F0E8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Will you </a:t>
            </a:r>
            <a:r>
              <a:rPr lang="en-US" sz="4600" i="1" dirty="0">
                <a:solidFill>
                  <a:srgbClr val="DABE6A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breathe</a:t>
            </a:r>
            <a:r>
              <a:rPr lang="en-US" sz="4600" dirty="0">
                <a:solidFill>
                  <a:srgbClr val="F5F0E8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 with us?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914400" y="221283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B9B0A2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We looking for partners who believe the bond is the next wellness category.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03320" y="3438561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0E8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Matthias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5210" y="3659305"/>
            <a:ext cx="8771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2D9E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Builder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19445" y="3438561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0E8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Daria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19445" y="3651921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C9A8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Marketing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" y="4434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C9A8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twobreath.com</a:t>
            </a:r>
            <a:r>
              <a:rPr lang="en-US" sz="1000" kern="0" spc="200" dirty="0">
                <a:solidFill>
                  <a:srgbClr val="7A72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·   </a:t>
            </a:r>
            <a:r>
              <a:rPr lang="en-US" sz="1000" kern="0" spc="200" dirty="0" err="1">
                <a:solidFill>
                  <a:srgbClr val="F5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info@twobreath.com</a:t>
            </a:r>
            <a:r>
              <a:rPr lang="en-US" sz="1000" kern="0" spc="200" dirty="0">
                <a:solidFill>
                  <a:srgbClr val="7A72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·   </a:t>
            </a:r>
            <a:r>
              <a:rPr lang="en-US" sz="1000" i="1" kern="0" spc="200" dirty="0">
                <a:solidFill>
                  <a:srgbClr val="B9B0A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launching July 1, 2026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6350">
            <a:solidFill>
              <a:srgbClr val="7A726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Text 18"/>
          <p:cNvSpPr/>
          <p:nvPr/>
        </p:nvSpPr>
        <p:spPr>
          <a:xfrm>
            <a:off x="457200" y="48143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7A72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· WILL YOU BREATHE WITH US?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394960" y="48143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7A72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LIFE SUMMIT BERLIN · STARTUP DAY  </a:t>
            </a:r>
            <a:r>
              <a:rPr lang="en-US" sz="750" kern="0" spc="200" dirty="0">
                <a:solidFill>
                  <a:srgbClr val="C9A8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08</a:t>
            </a:r>
            <a:endParaRPr lang="en-US" sz="7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6AAED5B-331A-6928-0C63-FD27D1CFE0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08" t="7598" r="16512" b="36732"/>
          <a:stretch>
            <a:fillRect/>
          </a:stretch>
        </p:blipFill>
        <p:spPr>
          <a:xfrm>
            <a:off x="2540000" y="3128082"/>
            <a:ext cx="980440" cy="1169598"/>
          </a:xfrm>
          <a:prstGeom prst="ellipse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93F6F4-3EB1-14BC-F23C-F006AF8DFD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265" r="14667" b="10434"/>
          <a:stretch>
            <a:fillRect/>
          </a:stretch>
        </p:blipFill>
        <p:spPr>
          <a:xfrm>
            <a:off x="4868876" y="3003866"/>
            <a:ext cx="958336" cy="1247359"/>
          </a:xfrm>
          <a:prstGeom prst="ellipse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6dcdb79-e55b-491a-9e20-518c2a101f22}" enabled="1" method="Privileged" siteId="{8b87af7d-8647-4dc7-8df4-5f69a2011bb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635</Words>
  <Application>Microsoft Macintosh PowerPoint</Application>
  <PresentationFormat>On-screen Show (16:9)</PresentationFormat>
  <Paragraphs>100</Paragraphs>
  <Slides>8</Slides>
  <Notes>8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DM Sans</vt:lpstr>
      <vt:lpstr>JetBrains Mono</vt:lpstr>
      <vt:lpstr>Playfair Display Black</vt:lpstr>
      <vt:lpstr>Playfair Display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TwoBreath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TwoBreath · Partnership Invitation · Life Summit Berlin 2026</dc:title>
  <dc:subject>Two souls. One bond. Looking for partners — DiGA, insurers, longevity, breath educators.</dc:subject>
  <dc:creator>TwoBreath — Matthias &amp; Dario</dc:creator>
  <cp:keywords/>
  <dc:description/>
  <cp:lastModifiedBy>BUCHHORN-ROTH Matthias</cp:lastModifiedBy>
  <cp:revision>8</cp:revision>
  <dcterms:created xsi:type="dcterms:W3CDTF">2026-05-01T16:13:43Z</dcterms:created>
  <dcterms:modified xsi:type="dcterms:W3CDTF">2026-05-01T21:17:27Z</dcterms:modified>
  <cp:category/>
</cp:coreProperties>
</file>