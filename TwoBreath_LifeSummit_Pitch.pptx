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203454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twobreath</a:t>
            </a:r>
            <a:endParaRPr lang="en-US" sz="1400" dirty="0"/>
          </a:p>
        </p:txBody>
      </p:sp>
      <p:pic>
        <p:nvPicPr>
          <p:cNvPr id="7" name="Image 0" descr="/sessions/beautiful-vibrant-turing/mnt/TwoBreath-website/images/pitch/p00-hero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D0B">
              <a:alpha val="6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410712" y="777240"/>
            <a:ext cx="1554480" cy="1554480"/>
          </a:xfrm>
          <a:prstGeom prst="ellipse">
            <a:avLst/>
          </a:prstGeom>
          <a:solidFill>
            <a:srgbClr val="2D9E8A">
              <a:alpha val="25000"/>
            </a:srgbClr>
          </a:solidFill>
          <a:ln w="19050">
            <a:solidFill>
              <a:srgbClr val="2D9E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78808" y="777240"/>
            <a:ext cx="1554480" cy="1554480"/>
          </a:xfrm>
          <a:prstGeom prst="ellipse">
            <a:avLst/>
          </a:prstGeom>
          <a:solidFill>
            <a:srgbClr val="C9A84C">
              <a:alpha val="25000"/>
            </a:srgbClr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51376" y="1513332"/>
            <a:ext cx="82296" cy="82296"/>
          </a:xfrm>
          <a:prstGeom prst="ellipse">
            <a:avLst/>
          </a:prstGeom>
          <a:solidFill>
            <a:srgbClr val="2D9E8A"/>
          </a:solidFill>
          <a:ln/>
        </p:spPr>
      </p:sp>
      <p:sp>
        <p:nvSpPr>
          <p:cNvPr id="12" name="Shape 9"/>
          <p:cNvSpPr/>
          <p:nvPr/>
        </p:nvSpPr>
        <p:spPr>
          <a:xfrm>
            <a:off x="4910328" y="1513332"/>
            <a:ext cx="82296" cy="82296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STORY · IN PLATO'S WORDS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Once we were </a:t>
            </a:r>
            <a:pPr algn="ctr" indent="0" marL="0">
              <a:buNone/>
            </a:pPr>
            <a:r>
              <a:rPr lang="en-US" sz="6400" i="1" dirty="0">
                <a:solidFill>
                  <a:srgbClr val="DABE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one.</a:t>
            </a:r>
            <a:endParaRPr lang="en-US" sz="6400" dirty="0"/>
          </a:p>
        </p:txBody>
      </p:sp>
      <p:sp>
        <p:nvSpPr>
          <p:cNvPr id="15" name="Text 12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9B0A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"Zeus split us. Ever since, every soul has been searching for the other half."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4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Aristophanes, in Plato's Symposium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ONCE WE WERE ONE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pPr algn="r"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08</a:t>
            </a:r>
            <a:endParaRPr lang="en-US" sz="750" dirty="0"/>
          </a:p>
        </p:txBody>
      </p:sp>
    </p:spTree>
  </p:cSld>
  <p:clrMapOvr>
    <a:masterClrMapping/>
  </p:clrMapOvr>
  <p:transition xmlns:p="http://schemas.openxmlformats.org/presentationml/2006/main"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par>
                          <p:cTn id="10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2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03" dur="50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10" fill="hold">
                      <p:stCondLst>
                        <p:cond delay="120"/>
                      </p:stCondLst>
                      <p:childTnLst>
                        <p:par>
                          <p:cTn id="10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2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13" dur="50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20" fill="hold">
                      <p:stCondLst>
                        <p:cond delay="240"/>
                      </p:stCondLst>
                      <p:childTnLst>
                        <p:par>
                          <p:cTn id="10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2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23" dur="50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30" fill="hold">
                      <p:stCondLst>
                        <p:cond delay="360"/>
                      </p:stCondLst>
                      <p:childTnLst>
                        <p:par>
                          <p:cTn id="10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2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33" dur="50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40" fill="hold">
                      <p:stCondLst>
                        <p:cond delay="480"/>
                      </p:stCondLst>
                      <p:childTnLst>
                        <p:par>
                          <p:cTn id="10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2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43" dur="50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50" fill="hold">
                      <p:stCondLst>
                        <p:cond delay="600"/>
                      </p:stCondLst>
                      <p:childTnLst>
                        <p:par>
                          <p:cTn id="10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2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3" dur="50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60" fill="hold">
                      <p:stCondLst>
                        <p:cond delay="720"/>
                      </p:stCondLst>
                      <p:childTnLst>
                        <p:par>
                          <p:cTn id="10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63" dur="50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70" fill="hold">
                      <p:stCondLst>
                        <p:cond delay="840"/>
                      </p:stCondLst>
                      <p:childTnLst>
                        <p:par>
                          <p:cTn id="10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2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3" dur="50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80" fill="hold">
                      <p:stCondLst>
                        <p:cond delay="960"/>
                      </p:stCondLst>
                      <p:childTnLst>
                        <p:par>
                          <p:cTn id="10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2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83" dur="50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90" fill="hold">
                      <p:stCondLst>
                        <p:cond delay="1080"/>
                      </p:stCondLst>
                      <p:childTnLst>
                        <p:par>
                          <p:cTn id="109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2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93" dur="50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00" fill="hold">
                      <p:stCondLst>
                        <p:cond delay="1200"/>
                      </p:stCondLst>
                      <p:childTnLst>
                        <p:par>
                          <p:cTn id="11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2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3" dur="50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10" fill="hold">
                      <p:stCondLst>
                        <p:cond delay="1320"/>
                      </p:stCondLst>
                      <p:childTnLst>
                        <p:par>
                          <p:cTn id="11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2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13" dur="50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20" fill="hold">
                      <p:stCondLst>
                        <p:cond delay="1440"/>
                      </p:stCondLst>
                      <p:childTnLst>
                        <p:par>
                          <p:cTn id="11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22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23" dur="50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30" fill="hold">
                      <p:stCondLst>
                        <p:cond delay="1560"/>
                      </p:stCondLst>
                      <p:childTnLst>
                        <p:par>
                          <p:cTn id="11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2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33" dur="50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40" fill="hold">
                      <p:stCondLst>
                        <p:cond delay="1680"/>
                      </p:stCondLst>
                      <p:childTnLst>
                        <p:par>
                          <p:cTn id="11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2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43" dur="50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50" fill="hold">
                      <p:stCondLst>
                        <p:cond delay="1800"/>
                      </p:stCondLst>
                      <p:childTnLst>
                        <p:par>
                          <p:cTn id="11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2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3" dur="500" fill="hold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60" fill="hold">
                      <p:stCondLst>
                        <p:cond delay="1920"/>
                      </p:stCondLst>
                      <p:childTnLst>
                        <p:par>
                          <p:cTn id="11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2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63" dur="50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70" fill="hold">
                      <p:stCondLst>
                        <p:cond delay="2040"/>
                      </p:stCondLst>
                      <p:childTnLst>
                        <p:par>
                          <p:cTn id="11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2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3" dur="500" fill="hold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203454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twobreath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ONE · 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Then modernity
</a:t>
            </a:r>
            <a:pPr algn="l" indent="0" marL="0">
              <a:buNone/>
            </a:pPr>
            <a:r>
              <a:rPr lang="en-US" sz="3400" i="1" dirty="0">
                <a:solidFill>
                  <a:srgbClr val="DABE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split us again.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bed. Different timers. Calm, Headspace, Insight Timer — the breakthrough wellness apps of the last decade optimized the individual. The bond — the thing that actually keeps two people alive — was forgotten.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1051560"/>
            <a:ext cx="2834640" cy="1051560"/>
          </a:xfrm>
          <a:prstGeom prst="rect">
            <a:avLst/>
          </a:prstGeom>
          <a:solidFill>
            <a:srgbClr val="14110F"/>
          </a:solidFill>
          <a:ln w="6350">
            <a:solidFill>
              <a:srgbClr val="7A72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1051560"/>
            <a:ext cx="54864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6016752" y="114300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040880" y="11430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shorter lifespan · loneliness (Holt-Lunstad)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0" y="2267712"/>
            <a:ext cx="2834640" cy="1051560"/>
          </a:xfrm>
          <a:prstGeom prst="rect">
            <a:avLst/>
          </a:prstGeom>
          <a:solidFill>
            <a:srgbClr val="14110F"/>
          </a:solidFill>
          <a:ln w="6350">
            <a:solidFill>
              <a:srgbClr val="7A72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67712"/>
            <a:ext cx="54864" cy="1051560"/>
          </a:xfrm>
          <a:prstGeom prst="rect">
            <a:avLst/>
          </a:prstGeom>
          <a:solidFill>
            <a:srgbClr val="2D9E8A"/>
          </a:solidFill>
          <a:ln/>
        </p:spPr>
      </p:sp>
      <p:sp>
        <p:nvSpPr>
          <p:cNvPr id="16" name="Text 14"/>
          <p:cNvSpPr/>
          <p:nvPr/>
        </p:nvSpPr>
        <p:spPr>
          <a:xfrm>
            <a:off x="6016752" y="2359152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2D9E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↑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040880" y="235915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paired breathing lifts vagal tone (polyvagal)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52160" y="3483864"/>
            <a:ext cx="2834640" cy="1051560"/>
          </a:xfrm>
          <a:prstGeom prst="rect">
            <a:avLst/>
          </a:prstGeom>
          <a:solidFill>
            <a:srgbClr val="14110F"/>
          </a:solidFill>
          <a:ln w="6350">
            <a:solidFill>
              <a:srgbClr val="7A72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3483864"/>
            <a:ext cx="54864" cy="1051560"/>
          </a:xfrm>
          <a:prstGeom prst="rect">
            <a:avLst/>
          </a:prstGeom>
          <a:solidFill>
            <a:srgbClr val="C9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6016752" y="3575304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96B6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040880" y="3575304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mainstream apps ship a paired-breath ritual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THE PROBLEM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pPr algn="r"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08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="http://schemas.openxmlformats.org/presentationml/2006/main" spd="slow" advClick="1">
        <p159:morph option="byObject"/>
      </p:transition>
    </mc:Choice>
    <mc:Fallback>
      <p:transition xmlns:p="http://schemas.openxmlformats.org/presentationml/2006/main"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par>
                          <p:cTn id="10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2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03" dur="50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10" fill="hold">
                      <p:stCondLst>
                        <p:cond delay="120"/>
                      </p:stCondLst>
                      <p:childTnLst>
                        <p:par>
                          <p:cTn id="10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2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13" dur="50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20" fill="hold">
                      <p:stCondLst>
                        <p:cond delay="240"/>
                      </p:stCondLst>
                      <p:childTnLst>
                        <p:par>
                          <p:cTn id="10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2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23" dur="50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30" fill="hold">
                      <p:stCondLst>
                        <p:cond delay="360"/>
                      </p:stCondLst>
                      <p:childTnLst>
                        <p:par>
                          <p:cTn id="10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2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33" dur="50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40" fill="hold">
                      <p:stCondLst>
                        <p:cond delay="480"/>
                      </p:stCondLst>
                      <p:childTnLst>
                        <p:par>
                          <p:cTn id="10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2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43" dur="50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50" fill="hold">
                      <p:stCondLst>
                        <p:cond delay="600"/>
                      </p:stCondLst>
                      <p:childTnLst>
                        <p:par>
                          <p:cTn id="10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2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3" dur="50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60" fill="hold">
                      <p:stCondLst>
                        <p:cond delay="720"/>
                      </p:stCondLst>
                      <p:childTnLst>
                        <p:par>
                          <p:cTn id="10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63" dur="50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70" fill="hold">
                      <p:stCondLst>
                        <p:cond delay="840"/>
                      </p:stCondLst>
                      <p:childTnLst>
                        <p:par>
                          <p:cTn id="10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2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3" dur="50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80" fill="hold">
                      <p:stCondLst>
                        <p:cond delay="960"/>
                      </p:stCondLst>
                      <p:childTnLst>
                        <p:par>
                          <p:cTn id="10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2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83" dur="50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90" fill="hold">
                      <p:stCondLst>
                        <p:cond delay="1080"/>
                      </p:stCondLst>
                      <p:childTnLst>
                        <p:par>
                          <p:cTn id="109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2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93" dur="50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00" fill="hold">
                      <p:stCondLst>
                        <p:cond delay="1200"/>
                      </p:stCondLst>
                      <p:childTnLst>
                        <p:par>
                          <p:cTn id="11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2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3" dur="50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10" fill="hold">
                      <p:stCondLst>
                        <p:cond delay="1320"/>
                      </p:stCondLst>
                      <p:childTnLst>
                        <p:par>
                          <p:cTn id="11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2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13" dur="50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20" fill="hold">
                      <p:stCondLst>
                        <p:cond delay="1440"/>
                      </p:stCondLst>
                      <p:childTnLst>
                        <p:par>
                          <p:cTn id="11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22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23" dur="50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30" fill="hold">
                      <p:stCondLst>
                        <p:cond delay="1560"/>
                      </p:stCondLst>
                      <p:childTnLst>
                        <p:par>
                          <p:cTn id="11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2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33" dur="50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40" fill="hold">
                      <p:stCondLst>
                        <p:cond delay="1680"/>
                      </p:stCondLst>
                      <p:childTnLst>
                        <p:par>
                          <p:cTn id="11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2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43" dur="50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50" fill="hold">
                      <p:stCondLst>
                        <p:cond delay="1800"/>
                      </p:stCondLst>
                      <p:childTnLst>
                        <p:par>
                          <p:cTn id="11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2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3" dur="500" fill="hold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60" fill="hold">
                      <p:stCondLst>
                        <p:cond delay="1920"/>
                      </p:stCondLst>
                      <p:childTnLst>
                        <p:par>
                          <p:cTn id="11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2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63" dur="50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70" fill="hold">
                      <p:stCondLst>
                        <p:cond delay="2040"/>
                      </p:stCondLst>
                      <p:childTnLst>
                        <p:par>
                          <p:cTn id="11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2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3" dur="500" fill="hold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80" fill="hold">
                      <p:stCondLst>
                        <p:cond delay="2160"/>
                      </p:stCondLst>
                      <p:childTnLst>
                        <p:par>
                          <p:cTn id="11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82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83" dur="50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90" fill="hold">
                      <p:stCondLst>
                        <p:cond delay="2280"/>
                      </p:stCondLst>
                      <p:childTnLst>
                        <p:par>
                          <p:cTn id="119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2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93" dur="500" fill="hold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00" fill="hold">
                      <p:stCondLst>
                        <p:cond delay="2400"/>
                      </p:stCondLst>
                      <p:childTnLst>
                        <p:par>
                          <p:cTn id="12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2"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03" dur="500" fill="hold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10" fill="hold">
                      <p:stCondLst>
                        <p:cond delay="2520"/>
                      </p:stCondLst>
                      <p:childTnLst>
                        <p:par>
                          <p:cTn id="12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2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13" dur="500" fill="hold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20" fill="hold">
                      <p:stCondLst>
                        <p:cond delay="2640"/>
                      </p:stCondLst>
                      <p:childTnLst>
                        <p:par>
                          <p:cTn id="12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22" dur="1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23" dur="500" fill="hold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203454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twobreath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TWO · THE THREAD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two-minute </a:t>
            </a:r>
            <a:pPr algn="l" indent="0" marL="0">
              <a:buNone/>
            </a:pPr>
            <a:r>
              <a:rPr lang="en-US" sz="3200" i="1" dirty="0">
                <a:solidFill>
                  <a:srgbClr val="DABE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thread</a:t>
            </a:r>
            <a:pPr algn="l" indent="0" marL="0">
              <a:buNone/>
            </a:pPr>
            <a:r>
              <a:rPr lang="en-US" sz="32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, every morning.</a:t>
            </a:r>
            <a:endParaRPr lang="en-US" sz="3200" dirty="0"/>
          </a:p>
        </p:txBody>
      </p:sp>
      <p:pic>
        <p:nvPicPr>
          <p:cNvPr id="9" name="Image 0" descr="/sessions/beautiful-vibrant-turing/mnt/outputs/v3/screen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640080"/>
            <a:ext cx="2651760" cy="42291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0120" y="23042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 phones.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26151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for each partner. Shared ritual. Local pairing — no cloud accounts.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30175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0120" y="30358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breath.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60120" y="33467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Voice-guided in our own voices · EN / DE / JA. Inhale together. Exhale together.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3749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60120" y="37673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Daily by design.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0120" y="40782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Streaks · Apple Health · Apple Watch. The thread shows up on your wrist.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THE THREAD · IPHONE + APPLE WATCH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pPr algn="r"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08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="http://schemas.openxmlformats.org/presentationml/2006/main" spd="slow" advClick="1">
        <p159:morph option="byObject"/>
      </p:transition>
    </mc:Choice>
    <mc:Fallback>
      <p:transition xmlns:p="http://schemas.openxmlformats.org/presentationml/2006/main"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par>
                          <p:cTn id="10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2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03" dur="50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10" fill="hold">
                      <p:stCondLst>
                        <p:cond delay="120"/>
                      </p:stCondLst>
                      <p:childTnLst>
                        <p:par>
                          <p:cTn id="10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2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13" dur="50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20" fill="hold">
                      <p:stCondLst>
                        <p:cond delay="240"/>
                      </p:stCondLst>
                      <p:childTnLst>
                        <p:par>
                          <p:cTn id="10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2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23" dur="50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30" fill="hold">
                      <p:stCondLst>
                        <p:cond delay="360"/>
                      </p:stCondLst>
                      <p:childTnLst>
                        <p:par>
                          <p:cTn id="10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2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33" dur="50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40" fill="hold">
                      <p:stCondLst>
                        <p:cond delay="480"/>
                      </p:stCondLst>
                      <p:childTnLst>
                        <p:par>
                          <p:cTn id="10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2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43" dur="50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50" fill="hold">
                      <p:stCondLst>
                        <p:cond delay="600"/>
                      </p:stCondLst>
                      <p:childTnLst>
                        <p:par>
                          <p:cTn id="10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2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3" dur="50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60" fill="hold">
                      <p:stCondLst>
                        <p:cond delay="720"/>
                      </p:stCondLst>
                      <p:childTnLst>
                        <p:par>
                          <p:cTn id="10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63" dur="50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70" fill="hold">
                      <p:stCondLst>
                        <p:cond delay="840"/>
                      </p:stCondLst>
                      <p:childTnLst>
                        <p:par>
                          <p:cTn id="10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2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3" dur="50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80" fill="hold">
                      <p:stCondLst>
                        <p:cond delay="960"/>
                      </p:stCondLst>
                      <p:childTnLst>
                        <p:par>
                          <p:cTn id="10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2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83" dur="50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90" fill="hold">
                      <p:stCondLst>
                        <p:cond delay="1080"/>
                      </p:stCondLst>
                      <p:childTnLst>
                        <p:par>
                          <p:cTn id="109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2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93" dur="50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00" fill="hold">
                      <p:stCondLst>
                        <p:cond delay="1200"/>
                      </p:stCondLst>
                      <p:childTnLst>
                        <p:par>
                          <p:cTn id="11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2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3" dur="50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10" fill="hold">
                      <p:stCondLst>
                        <p:cond delay="1320"/>
                      </p:stCondLst>
                      <p:childTnLst>
                        <p:par>
                          <p:cTn id="11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2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13" dur="50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20" fill="hold">
                      <p:stCondLst>
                        <p:cond delay="1440"/>
                      </p:stCondLst>
                      <p:childTnLst>
                        <p:par>
                          <p:cTn id="11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22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23" dur="50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30" fill="hold">
                      <p:stCondLst>
                        <p:cond delay="1560"/>
                      </p:stCondLst>
                      <p:childTnLst>
                        <p:par>
                          <p:cTn id="11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2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33" dur="50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40" fill="hold">
                      <p:stCondLst>
                        <p:cond delay="1680"/>
                      </p:stCondLst>
                      <p:childTnLst>
                        <p:par>
                          <p:cTn id="11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2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43" dur="50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50" fill="hold">
                      <p:stCondLst>
                        <p:cond delay="1800"/>
                      </p:stCondLst>
                      <p:childTnLst>
                        <p:par>
                          <p:cTn id="11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2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3" dur="500" fill="hold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60" fill="hold">
                      <p:stCondLst>
                        <p:cond delay="1920"/>
                      </p:stCondLst>
                      <p:childTnLst>
                        <p:par>
                          <p:cTn id="11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2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63" dur="50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70" fill="hold">
                      <p:stCondLst>
                        <p:cond delay="2040"/>
                      </p:stCondLst>
                      <p:childTnLst>
                        <p:par>
                          <p:cTn id="11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2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3" dur="500" fill="hold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80" fill="hold">
                      <p:stCondLst>
                        <p:cond delay="2160"/>
                      </p:stCondLst>
                      <p:childTnLst>
                        <p:par>
                          <p:cTn id="11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82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83" dur="50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90" fill="hold">
                      <p:stCondLst>
                        <p:cond delay="2280"/>
                      </p:stCondLst>
                      <p:childTnLst>
                        <p:par>
                          <p:cTn id="119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2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93" dur="500" fill="hold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203454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twobreath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THREE · THE PRACTICE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Eight years </a:t>
            </a:r>
            <a:pPr algn="l" indent="0" marL="0">
              <a:buNone/>
            </a:pPr>
            <a:r>
              <a:rPr lang="en-US" sz="3800" i="1" dirty="0">
                <a:solidFill>
                  <a:srgbClr val="DABE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day.</a:t>
            </a:r>
            <a:endParaRPr lang="en-US" sz="3800" dirty="0"/>
          </a:p>
        </p:txBody>
      </p:sp>
      <p:pic>
        <p:nvPicPr>
          <p:cNvPr id="9" name="Image 0" descr="/sessions/beautiful-vibrant-turing/mnt/outputs/v3/screen_heal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640080"/>
            <a:ext cx="2651760" cy="42291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33172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Every morning.
</a:t>
            </a:r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B9B0A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Berlin → Tokyo → Lisbon.
</a:t>
            </a:r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B9B0A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Through three years of distance, two children, </a:t>
            </a:r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B9B0A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and one pandemic.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3977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C9A8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didn't research the user. We are the user. The data on the right is ours.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EIGHT YEARS A DAY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pPr algn="r"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08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="http://schemas.openxmlformats.org/presentationml/2006/main" spd="slow" advClick="1">
        <p159:morph option="byObject"/>
      </p:transition>
    </mc:Choice>
    <mc:Fallback>
      <p:transition xmlns:p="http://schemas.openxmlformats.org/presentationml/2006/main"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par>
                          <p:cTn id="10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2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03" dur="50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10" fill="hold">
                      <p:stCondLst>
                        <p:cond delay="120"/>
                      </p:stCondLst>
                      <p:childTnLst>
                        <p:par>
                          <p:cTn id="10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2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13" dur="50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20" fill="hold">
                      <p:stCondLst>
                        <p:cond delay="240"/>
                      </p:stCondLst>
                      <p:childTnLst>
                        <p:par>
                          <p:cTn id="10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2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23" dur="50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30" fill="hold">
                      <p:stCondLst>
                        <p:cond delay="360"/>
                      </p:stCondLst>
                      <p:childTnLst>
                        <p:par>
                          <p:cTn id="10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2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33" dur="50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40" fill="hold">
                      <p:stCondLst>
                        <p:cond delay="480"/>
                      </p:stCondLst>
                      <p:childTnLst>
                        <p:par>
                          <p:cTn id="10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2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43" dur="50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50" fill="hold">
                      <p:stCondLst>
                        <p:cond delay="600"/>
                      </p:stCondLst>
                      <p:childTnLst>
                        <p:par>
                          <p:cTn id="10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2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3" dur="50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60" fill="hold">
                      <p:stCondLst>
                        <p:cond delay="720"/>
                      </p:stCondLst>
                      <p:childTnLst>
                        <p:par>
                          <p:cTn id="10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63" dur="50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70" fill="hold">
                      <p:stCondLst>
                        <p:cond delay="840"/>
                      </p:stCondLst>
                      <p:childTnLst>
                        <p:par>
                          <p:cTn id="10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2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3" dur="50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80" fill="hold">
                      <p:stCondLst>
                        <p:cond delay="960"/>
                      </p:stCondLst>
                      <p:childTnLst>
                        <p:par>
                          <p:cTn id="10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2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83" dur="50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90" fill="hold">
                      <p:stCondLst>
                        <p:cond delay="1080"/>
                      </p:stCondLst>
                      <p:childTnLst>
                        <p:par>
                          <p:cTn id="109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2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93" dur="50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00" fill="hold">
                      <p:stCondLst>
                        <p:cond delay="1200"/>
                      </p:stCondLst>
                      <p:childTnLst>
                        <p:par>
                          <p:cTn id="11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2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3" dur="50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10" fill="hold">
                      <p:stCondLst>
                        <p:cond delay="1320"/>
                      </p:stCondLst>
                      <p:childTnLst>
                        <p:par>
                          <p:cTn id="11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2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13" dur="50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20" fill="hold">
                      <p:stCondLst>
                        <p:cond delay="1440"/>
                      </p:stCondLst>
                      <p:childTnLst>
                        <p:par>
                          <p:cTn id="11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22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23" dur="50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203454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twobreath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FOUR · THE EVIDENCE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science </a:t>
            </a:r>
            <a:pPr algn="l" indent="0" marL="0">
              <a:buNone/>
            </a:pPr>
            <a:r>
              <a:rPr lang="en-US" sz="3200" i="1" dirty="0">
                <a:solidFill>
                  <a:srgbClr val="DABE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already knows.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97280" y="22585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Paired breathing trains the vagus nerve.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32888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Polyvagal science (Porges) — synchronized slow breathing co-regulates two nervous systems. HRV up. Cortisol down. Measurable in two minutes.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97280" y="30906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Strong bonds add years to life.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364992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Holt-Lunstad meta-analysis — chronic loneliness shortens lifespan ~15%. Strong daily connection rivals diet and exercise as a longevity factor.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90448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97280" y="39227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Wellness is a $80B market — for individuals.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197096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Growing ~15% per year (Statista, McKinsey). Couples paired-breath rituals = a category that does not yet exist. The evidence has been waiting for the product.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THE EVIDENCE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pPr algn="r"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08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="http://schemas.openxmlformats.org/presentationml/2006/main" spd="slow" advClick="1">
        <p159:morph option="byObject"/>
      </p:transition>
    </mc:Choice>
    <mc:Fallback>
      <p:transition xmlns:p="http://schemas.openxmlformats.org/presentationml/2006/main"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par>
                          <p:cTn id="10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2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03" dur="50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10" fill="hold">
                      <p:stCondLst>
                        <p:cond delay="120"/>
                      </p:stCondLst>
                      <p:childTnLst>
                        <p:par>
                          <p:cTn id="10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2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13" dur="50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20" fill="hold">
                      <p:stCondLst>
                        <p:cond delay="240"/>
                      </p:stCondLst>
                      <p:childTnLst>
                        <p:par>
                          <p:cTn id="10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2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23" dur="50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30" fill="hold">
                      <p:stCondLst>
                        <p:cond delay="360"/>
                      </p:stCondLst>
                      <p:childTnLst>
                        <p:par>
                          <p:cTn id="10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2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33" dur="50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40" fill="hold">
                      <p:stCondLst>
                        <p:cond delay="480"/>
                      </p:stCondLst>
                      <p:childTnLst>
                        <p:par>
                          <p:cTn id="10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2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43" dur="50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50" fill="hold">
                      <p:stCondLst>
                        <p:cond delay="600"/>
                      </p:stCondLst>
                      <p:childTnLst>
                        <p:par>
                          <p:cTn id="10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2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3" dur="50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60" fill="hold">
                      <p:stCondLst>
                        <p:cond delay="720"/>
                      </p:stCondLst>
                      <p:childTnLst>
                        <p:par>
                          <p:cTn id="10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63" dur="50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70" fill="hold">
                      <p:stCondLst>
                        <p:cond delay="840"/>
                      </p:stCondLst>
                      <p:childTnLst>
                        <p:par>
                          <p:cTn id="10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2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3" dur="50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80" fill="hold">
                      <p:stCondLst>
                        <p:cond delay="960"/>
                      </p:stCondLst>
                      <p:childTnLst>
                        <p:par>
                          <p:cTn id="10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2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83" dur="50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90" fill="hold">
                      <p:stCondLst>
                        <p:cond delay="1080"/>
                      </p:stCondLst>
                      <p:childTnLst>
                        <p:par>
                          <p:cTn id="109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2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93" dur="50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00" fill="hold">
                      <p:stCondLst>
                        <p:cond delay="1200"/>
                      </p:stCondLst>
                      <p:childTnLst>
                        <p:par>
                          <p:cTn id="11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2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3" dur="50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10" fill="hold">
                      <p:stCondLst>
                        <p:cond delay="1320"/>
                      </p:stCondLst>
                      <p:childTnLst>
                        <p:par>
                          <p:cTn id="11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2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13" dur="50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20" fill="hold">
                      <p:stCondLst>
                        <p:cond delay="1440"/>
                      </p:stCondLst>
                      <p:childTnLst>
                        <p:par>
                          <p:cTn id="11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22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23" dur="50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30" fill="hold">
                      <p:stCondLst>
                        <p:cond delay="1560"/>
                      </p:stCondLst>
                      <p:childTnLst>
                        <p:par>
                          <p:cTn id="11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2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33" dur="50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40" fill="hold">
                      <p:stCondLst>
                        <p:cond delay="1680"/>
                      </p:stCondLst>
                      <p:childTnLst>
                        <p:par>
                          <p:cTn id="11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2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43" dur="50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50" fill="hold">
                      <p:stCondLst>
                        <p:cond delay="1800"/>
                      </p:stCondLst>
                      <p:childTnLst>
                        <p:par>
                          <p:cTn id="11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2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3" dur="500" fill="hold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60" fill="hold">
                      <p:stCondLst>
                        <p:cond delay="1920"/>
                      </p:stCondLst>
                      <p:childTnLst>
                        <p:par>
                          <p:cTn id="11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2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63" dur="50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70" fill="hold">
                      <p:stCondLst>
                        <p:cond delay="2040"/>
                      </p:stCondLst>
                      <p:childTnLst>
                        <p:par>
                          <p:cTn id="11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2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3" dur="500" fill="hold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80" fill="hold">
                      <p:stCondLst>
                        <p:cond delay="2160"/>
                      </p:stCondLst>
                      <p:childTnLst>
                        <p:par>
                          <p:cTn id="11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82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83" dur="50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203454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twobreath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FIVE · TRUST BY DESIGN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phone for the breath.
</a:t>
            </a:r>
            <a:pPr algn="l" indent="0" marL="0">
              <a:buNone/>
            </a:pPr>
            <a:r>
              <a:rPr lang="en-US" sz="2600" i="1" dirty="0">
                <a:solidFill>
                  <a:srgbClr val="DABE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 phones for the data.</a:t>
            </a:r>
            <a:endParaRPr lang="en-US" sz="2600" dirty="0"/>
          </a:p>
        </p:txBody>
      </p:sp>
      <p:pic>
        <p:nvPicPr>
          <p:cNvPr id="9" name="Image 0" descr="/sessions/beautiful-vibrant-turing/mnt/outputs/v3/screen_pai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640080"/>
            <a:ext cx="2651760" cy="42291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2423160"/>
            <a:ext cx="54864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5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PAIRED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874520" y="24414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pairing code · no cloud account required to start the ritual.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54864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5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874520" y="30815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HealthKit on-device. Each partner's HRV stays on their own iPhone.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703320"/>
            <a:ext cx="54864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703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5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PORTABLE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874520" y="37216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on Apple Watch · the breath shows up on the wrist, no phone needed.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LAUNCHING JULY 1, 2026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TRUST BY DESIGN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pPr algn="r"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08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="http://schemas.openxmlformats.org/presentationml/2006/main" spd="slow" advClick="1">
        <p159:morph option="byObject"/>
      </p:transition>
    </mc:Choice>
    <mc:Fallback>
      <p:transition xmlns:p="http://schemas.openxmlformats.org/presentationml/2006/main"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par>
                          <p:cTn id="10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2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03" dur="50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10" fill="hold">
                      <p:stCondLst>
                        <p:cond delay="120"/>
                      </p:stCondLst>
                      <p:childTnLst>
                        <p:par>
                          <p:cTn id="10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2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13" dur="50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20" fill="hold">
                      <p:stCondLst>
                        <p:cond delay="240"/>
                      </p:stCondLst>
                      <p:childTnLst>
                        <p:par>
                          <p:cTn id="10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2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23" dur="50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30" fill="hold">
                      <p:stCondLst>
                        <p:cond delay="360"/>
                      </p:stCondLst>
                      <p:childTnLst>
                        <p:par>
                          <p:cTn id="10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2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33" dur="50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40" fill="hold">
                      <p:stCondLst>
                        <p:cond delay="480"/>
                      </p:stCondLst>
                      <p:childTnLst>
                        <p:par>
                          <p:cTn id="10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2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43" dur="50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50" fill="hold">
                      <p:stCondLst>
                        <p:cond delay="600"/>
                      </p:stCondLst>
                      <p:childTnLst>
                        <p:par>
                          <p:cTn id="10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2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3" dur="50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60" fill="hold">
                      <p:stCondLst>
                        <p:cond delay="720"/>
                      </p:stCondLst>
                      <p:childTnLst>
                        <p:par>
                          <p:cTn id="10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63" dur="50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70" fill="hold">
                      <p:stCondLst>
                        <p:cond delay="840"/>
                      </p:stCondLst>
                      <p:childTnLst>
                        <p:par>
                          <p:cTn id="10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2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3" dur="50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80" fill="hold">
                      <p:stCondLst>
                        <p:cond delay="960"/>
                      </p:stCondLst>
                      <p:childTnLst>
                        <p:par>
                          <p:cTn id="10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2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83" dur="50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90" fill="hold">
                      <p:stCondLst>
                        <p:cond delay="1080"/>
                      </p:stCondLst>
                      <p:childTnLst>
                        <p:par>
                          <p:cTn id="109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2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93" dur="50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00" fill="hold">
                      <p:stCondLst>
                        <p:cond delay="1200"/>
                      </p:stCondLst>
                      <p:childTnLst>
                        <p:par>
                          <p:cTn id="11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2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3" dur="50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10" fill="hold">
                      <p:stCondLst>
                        <p:cond delay="1320"/>
                      </p:stCondLst>
                      <p:childTnLst>
                        <p:par>
                          <p:cTn id="11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2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13" dur="50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20" fill="hold">
                      <p:stCondLst>
                        <p:cond delay="1440"/>
                      </p:stCondLst>
                      <p:childTnLst>
                        <p:par>
                          <p:cTn id="11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22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23" dur="50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30" fill="hold">
                      <p:stCondLst>
                        <p:cond delay="1560"/>
                      </p:stCondLst>
                      <p:childTnLst>
                        <p:par>
                          <p:cTn id="11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2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33" dur="50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40" fill="hold">
                      <p:stCondLst>
                        <p:cond delay="1680"/>
                      </p:stCondLst>
                      <p:childTnLst>
                        <p:par>
                          <p:cTn id="11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2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43" dur="50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50" fill="hold">
                      <p:stCondLst>
                        <p:cond delay="1800"/>
                      </p:stCondLst>
                      <p:childTnLst>
                        <p:par>
                          <p:cTn id="11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2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3" dur="500" fill="hold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60" fill="hold">
                      <p:stCondLst>
                        <p:cond delay="1920"/>
                      </p:stCondLst>
                      <p:childTnLst>
                        <p:par>
                          <p:cTn id="11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2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63" dur="50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70" fill="hold">
                      <p:stCondLst>
                        <p:cond delay="2040"/>
                      </p:stCondLst>
                      <p:childTnLst>
                        <p:par>
                          <p:cTn id="11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2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3" dur="500" fill="hold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80" fill="hold">
                      <p:stCondLst>
                        <p:cond delay="2160"/>
                      </p:stCondLst>
                      <p:childTnLst>
                        <p:par>
                          <p:cTn id="11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82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83" dur="50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90" fill="hold">
                      <p:stCondLst>
                        <p:cond delay="2280"/>
                      </p:stCondLst>
                      <p:childTnLst>
                        <p:par>
                          <p:cTn id="119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2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93" dur="500" fill="hold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00" fill="hold">
                      <p:stCondLst>
                        <p:cond delay="2400"/>
                      </p:stCondLst>
                      <p:childTnLst>
                        <p:par>
                          <p:cTn id="12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2"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03" dur="500" fill="hold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203454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twobreath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SIX · WHAT WE'RE ASKING FOR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We're not raising capital.
</a:t>
            </a:r>
            <a:pPr algn="l" indent="0" marL="0">
              <a:buNone/>
            </a:pPr>
            <a:r>
              <a:rPr lang="en-US" sz="2800" i="1" dirty="0">
                <a:solidFill>
                  <a:srgbClr val="DABE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We're recruiting partners.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023360" cy="1078992"/>
          </a:xfrm>
          <a:prstGeom prst="rect">
            <a:avLst/>
          </a:prstGeom>
          <a:solidFill>
            <a:srgbClr val="14110F"/>
          </a:solidFill>
          <a:ln w="6350">
            <a:solidFill>
              <a:srgbClr val="7A72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40233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140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DiGA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Digitale Gesundheitsanwendung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299923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Prescription-grade reimbursement by German statutory health insurers. Couples co-regulation as covered care.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90288" y="2286000"/>
            <a:ext cx="4023360" cy="1078992"/>
          </a:xfrm>
          <a:prstGeom prst="rect">
            <a:avLst/>
          </a:prstGeom>
          <a:solidFill>
            <a:srgbClr val="14110F"/>
          </a:solidFill>
          <a:ln w="6350">
            <a:solidFill>
              <a:srgbClr val="7A72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2286000"/>
            <a:ext cx="4023360" cy="36576"/>
          </a:xfrm>
          <a:prstGeom prst="rect">
            <a:avLst/>
          </a:prstGeom>
          <a:solidFill>
            <a:srgbClr val="2D9E8A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24140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0" kern="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INSURERS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2651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Health insurer pilots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73168" y="299923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TK, Barmer, AOK Plus — bonded couples lower healthcare costs. Pilot integration with Apple Health outcomes.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4023360" cy="1078992"/>
          </a:xfrm>
          <a:prstGeom prst="rect">
            <a:avLst/>
          </a:prstGeom>
          <a:solidFill>
            <a:srgbClr val="14110F"/>
          </a:solidFill>
          <a:ln w="6350">
            <a:solidFill>
              <a:srgbClr val="7A72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74720"/>
            <a:ext cx="4023360" cy="36576"/>
          </a:xfrm>
          <a:prstGeom prst="rect">
            <a:avLst/>
          </a:prstGeom>
          <a:solidFill>
            <a:srgbClr val="3DBFA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027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0" kern="0" dirty="0">
                <a:solidFill>
                  <a:srgbClr val="3DBF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CLINICS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Longevity &amp; retreat partners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418795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Lanserhof-style centers, couples retreats, fertility clinics. TwoBreath as the take-home daily ritual.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90288" y="3474720"/>
            <a:ext cx="4023360" cy="1078992"/>
          </a:xfrm>
          <a:prstGeom prst="rect">
            <a:avLst/>
          </a:prstGeom>
          <a:solidFill>
            <a:srgbClr val="14110F"/>
          </a:solidFill>
          <a:ln w="6350">
            <a:solidFill>
              <a:srgbClr val="7A72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0288" y="3474720"/>
            <a:ext cx="4023360" cy="36576"/>
          </a:xfrm>
          <a:prstGeom prst="rect">
            <a:avLst/>
          </a:prstGeom>
          <a:solidFill>
            <a:srgbClr val="C9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36027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0" kern="0" dirty="0">
                <a:solidFill>
                  <a:srgbClr val="C9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COMMUNITY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73168" y="38404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Breath educators · therapists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773168" y="418795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Wim Hof / Buteyko / tantra teachers · couples coaches. Co-create the awareness movement around the bond.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PARTNERSHIPS · NOT CAPITAL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pPr algn="r"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08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="http://schemas.openxmlformats.org/presentationml/2006/main" spd="slow" advClick="1">
        <p159:morph option="byObject"/>
      </p:transition>
    </mc:Choice>
    <mc:Fallback>
      <p:transition xmlns:p="http://schemas.openxmlformats.org/presentationml/2006/main"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par>
                          <p:cTn id="10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2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03" dur="50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10" fill="hold">
                      <p:stCondLst>
                        <p:cond delay="120"/>
                      </p:stCondLst>
                      <p:childTnLst>
                        <p:par>
                          <p:cTn id="10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2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13" dur="50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20" fill="hold">
                      <p:stCondLst>
                        <p:cond delay="240"/>
                      </p:stCondLst>
                      <p:childTnLst>
                        <p:par>
                          <p:cTn id="10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2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23" dur="50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30" fill="hold">
                      <p:stCondLst>
                        <p:cond delay="360"/>
                      </p:stCondLst>
                      <p:childTnLst>
                        <p:par>
                          <p:cTn id="10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2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33" dur="50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40" fill="hold">
                      <p:stCondLst>
                        <p:cond delay="480"/>
                      </p:stCondLst>
                      <p:childTnLst>
                        <p:par>
                          <p:cTn id="10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2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43" dur="50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50" fill="hold">
                      <p:stCondLst>
                        <p:cond delay="600"/>
                      </p:stCondLst>
                      <p:childTnLst>
                        <p:par>
                          <p:cTn id="10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2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3" dur="50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60" fill="hold">
                      <p:stCondLst>
                        <p:cond delay="720"/>
                      </p:stCondLst>
                      <p:childTnLst>
                        <p:par>
                          <p:cTn id="10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63" dur="50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70" fill="hold">
                      <p:stCondLst>
                        <p:cond delay="840"/>
                      </p:stCondLst>
                      <p:childTnLst>
                        <p:par>
                          <p:cTn id="10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2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3" dur="50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80" fill="hold">
                      <p:stCondLst>
                        <p:cond delay="960"/>
                      </p:stCondLst>
                      <p:childTnLst>
                        <p:par>
                          <p:cTn id="10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2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83" dur="50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90" fill="hold">
                      <p:stCondLst>
                        <p:cond delay="1080"/>
                      </p:stCondLst>
                      <p:childTnLst>
                        <p:par>
                          <p:cTn id="109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2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93" dur="50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00" fill="hold">
                      <p:stCondLst>
                        <p:cond delay="1200"/>
                      </p:stCondLst>
                      <p:childTnLst>
                        <p:par>
                          <p:cTn id="11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2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3" dur="50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10" fill="hold">
                      <p:stCondLst>
                        <p:cond delay="1320"/>
                      </p:stCondLst>
                      <p:childTnLst>
                        <p:par>
                          <p:cTn id="11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2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13" dur="50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20" fill="hold">
                      <p:stCondLst>
                        <p:cond delay="1440"/>
                      </p:stCondLst>
                      <p:childTnLst>
                        <p:par>
                          <p:cTn id="11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22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23" dur="50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30" fill="hold">
                      <p:stCondLst>
                        <p:cond delay="1560"/>
                      </p:stCondLst>
                      <p:childTnLst>
                        <p:par>
                          <p:cTn id="11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2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33" dur="50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40" fill="hold">
                      <p:stCondLst>
                        <p:cond delay="1680"/>
                      </p:stCondLst>
                      <p:childTnLst>
                        <p:par>
                          <p:cTn id="11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2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43" dur="50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50" fill="hold">
                      <p:stCondLst>
                        <p:cond delay="1800"/>
                      </p:stCondLst>
                      <p:childTnLst>
                        <p:par>
                          <p:cTn id="11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2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3" dur="500" fill="hold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60" fill="hold">
                      <p:stCondLst>
                        <p:cond delay="1920"/>
                      </p:stCondLst>
                      <p:childTnLst>
                        <p:par>
                          <p:cTn id="11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2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63" dur="50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70" fill="hold">
                      <p:stCondLst>
                        <p:cond delay="2040"/>
                      </p:stCondLst>
                      <p:childTnLst>
                        <p:par>
                          <p:cTn id="11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2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3" dur="500" fill="hold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80" fill="hold">
                      <p:stCondLst>
                        <p:cond delay="2160"/>
                      </p:stCondLst>
                      <p:childTnLst>
                        <p:par>
                          <p:cTn id="11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82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83" dur="50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90" fill="hold">
                      <p:stCondLst>
                        <p:cond delay="2280"/>
                      </p:stCondLst>
                      <p:childTnLst>
                        <p:par>
                          <p:cTn id="119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2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93" dur="500" fill="hold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00" fill="hold">
                      <p:stCondLst>
                        <p:cond delay="2400"/>
                      </p:stCondLst>
                      <p:childTnLst>
                        <p:par>
                          <p:cTn id="12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2"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03" dur="500" fill="hold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10" fill="hold">
                      <p:stCondLst>
                        <p:cond delay="2520"/>
                      </p:stCondLst>
                      <p:childTnLst>
                        <p:par>
                          <p:cTn id="12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2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13" dur="500" fill="hold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20" fill="hold">
                      <p:stCondLst>
                        <p:cond delay="2640"/>
                      </p:stCondLst>
                      <p:childTnLst>
                        <p:par>
                          <p:cTn id="12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22" dur="1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23" dur="500" fill="hold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30" fill="hold">
                      <p:stCondLst>
                        <p:cond delay="2760"/>
                      </p:stCondLst>
                      <p:childTnLst>
                        <p:par>
                          <p:cTn id="12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32" dur="1" fill="hold"/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33" dur="500" fill="hold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40" fill="hold">
                      <p:stCondLst>
                        <p:cond delay="2880"/>
                      </p:stCondLst>
                      <p:childTnLst>
                        <p:par>
                          <p:cTn id="12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2" dur="1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43" dur="500" fill="hold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50" fill="hold">
                      <p:stCondLst>
                        <p:cond delay="3000"/>
                      </p:stCondLst>
                      <p:childTnLst>
                        <p:par>
                          <p:cTn id="12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52" dur="1" fill="hold"/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53" dur="500" fill="hold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60" fill="hold">
                      <p:stCondLst>
                        <p:cond delay="3120"/>
                      </p:stCondLst>
                      <p:childTnLst>
                        <p:par>
                          <p:cTn id="12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2" dur="1" fill="hold"/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63" dur="500" fill="hold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70" fill="hold">
                      <p:stCondLst>
                        <p:cond delay="3240"/>
                      </p:stCondLst>
                      <p:childTnLst>
                        <p:par>
                          <p:cTn id="12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72" dur="1" fill="hold"/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73" dur="500" fill="hold"/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80" fill="hold">
                      <p:stCondLst>
                        <p:cond delay="3360"/>
                      </p:stCondLst>
                      <p:childTnLst>
                        <p:par>
                          <p:cTn id="12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82" dur="1" fill="hold"/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83" dur="500" fill="hold"/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90" fill="hold">
                      <p:stCondLst>
                        <p:cond delay="3480"/>
                      </p:stCondLst>
                      <p:childTnLst>
                        <p:par>
                          <p:cTn id="129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92" dur="1" fill="hold"/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93" dur="500" fill="hold"/>
                                  <p:tgtEl>
                                    <p:spTgt spid="3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203454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twobreath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INVITATION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Will you </a:t>
            </a:r>
            <a:pPr algn="ctr" indent="0" marL="0">
              <a:buNone/>
            </a:pPr>
            <a:r>
              <a:rPr lang="en-US" sz="4600" i="1" dirty="0">
                <a:solidFill>
                  <a:srgbClr val="DABE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breathe</a:t>
            </a:r>
            <a:pPr algn="ctr" indent="0" marL="0">
              <a:buNone/>
            </a:pPr>
            <a:r>
              <a:rPr lang="en-US" sz="46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with us?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9B0A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don't need money to launch. We need partners who believe the bond is the next wellness category.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3703320"/>
            <a:ext cx="457200" cy="457200"/>
          </a:xfrm>
          <a:prstGeom prst="ellipse">
            <a:avLst/>
          </a:prstGeom>
          <a:solidFill>
            <a:srgbClr val="2D9E8A">
              <a:alpha val="35000"/>
            </a:srgbClr>
          </a:solidFill>
          <a:ln w="12700">
            <a:solidFill>
              <a:srgbClr val="2D9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Matthias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931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3703320"/>
            <a:ext cx="457200" cy="457200"/>
          </a:xfrm>
          <a:prstGeom prst="ellipse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12080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Dario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3931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CMO · COO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twobreath.com</a:t>
            </a:r>
            <a:pPr algn="ctr" indent="0" marL="0">
              <a:buNone/>
            </a:pPr>
            <a:r>
              <a:rPr lang="en-US" sz="100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·   </a:t>
            </a:r>
            <a:pPr algn="ctr" indent="0" marL="0">
              <a:buNone/>
            </a:pPr>
            <a:r>
              <a:rPr lang="en-US" sz="1000" spc="200" kern="0" dirty="0">
                <a:solidFill>
                  <a:srgbClr val="F5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matthias@twobreath.com</a:t>
            </a:r>
            <a:pPr algn="ctr" indent="0" marL="0">
              <a:buNone/>
            </a:pPr>
            <a:r>
              <a:rPr lang="en-US" sz="100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·   </a:t>
            </a:r>
            <a:pPr algn="ctr" indent="0" marL="0">
              <a:buNone/>
            </a:pPr>
            <a:r>
              <a:rPr lang="en-US" sz="1000" i="1" spc="200" kern="0" dirty="0">
                <a:solidFill>
                  <a:srgbClr val="B9B0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launching July 1,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WILL YOU BREATHE WITH US?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pPr algn="r"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08</a:t>
            </a:r>
            <a:endParaRPr lang="en-US" sz="750" dirty="0"/>
          </a:p>
        </p:txBody>
      </p:sp>
    </p:spTree>
  </p:cSld>
  <p:clrMapOvr>
    <a:masterClrMapping/>
  </p:clrMapOvr>
  <p:transition xmlns:p="http://schemas.openxmlformats.org/presentationml/2006/main"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par>
                          <p:cTn id="10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2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03" dur="50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10" fill="hold">
                      <p:stCondLst>
                        <p:cond delay="120"/>
                      </p:stCondLst>
                      <p:childTnLst>
                        <p:par>
                          <p:cTn id="10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2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13" dur="50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20" fill="hold">
                      <p:stCondLst>
                        <p:cond delay="240"/>
                      </p:stCondLst>
                      <p:childTnLst>
                        <p:par>
                          <p:cTn id="10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2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23" dur="50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30" fill="hold">
                      <p:stCondLst>
                        <p:cond delay="360"/>
                      </p:stCondLst>
                      <p:childTnLst>
                        <p:par>
                          <p:cTn id="10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2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33" dur="50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40" fill="hold">
                      <p:stCondLst>
                        <p:cond delay="480"/>
                      </p:stCondLst>
                      <p:childTnLst>
                        <p:par>
                          <p:cTn id="10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2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43" dur="50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50" fill="hold">
                      <p:stCondLst>
                        <p:cond delay="600"/>
                      </p:stCondLst>
                      <p:childTnLst>
                        <p:par>
                          <p:cTn id="10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2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3" dur="50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60" fill="hold">
                      <p:stCondLst>
                        <p:cond delay="720"/>
                      </p:stCondLst>
                      <p:childTnLst>
                        <p:par>
                          <p:cTn id="10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63" dur="50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70" fill="hold">
                      <p:stCondLst>
                        <p:cond delay="840"/>
                      </p:stCondLst>
                      <p:childTnLst>
                        <p:par>
                          <p:cTn id="10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2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3" dur="50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80" fill="hold">
                      <p:stCondLst>
                        <p:cond delay="960"/>
                      </p:stCondLst>
                      <p:childTnLst>
                        <p:par>
                          <p:cTn id="10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2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83" dur="50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90" fill="hold">
                      <p:stCondLst>
                        <p:cond delay="1080"/>
                      </p:stCondLst>
                      <p:childTnLst>
                        <p:par>
                          <p:cTn id="109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2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93" dur="50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00" fill="hold">
                      <p:stCondLst>
                        <p:cond delay="1200"/>
                      </p:stCondLst>
                      <p:childTnLst>
                        <p:par>
                          <p:cTn id="110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2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3" dur="50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10" fill="hold">
                      <p:stCondLst>
                        <p:cond delay="1320"/>
                      </p:stCondLst>
                      <p:childTnLst>
                        <p:par>
                          <p:cTn id="111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2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13" dur="50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20" fill="hold">
                      <p:stCondLst>
                        <p:cond delay="1440"/>
                      </p:stCondLst>
                      <p:childTnLst>
                        <p:par>
                          <p:cTn id="112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22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23" dur="50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30" fill="hold">
                      <p:stCondLst>
                        <p:cond delay="1560"/>
                      </p:stCondLst>
                      <p:childTnLst>
                        <p:par>
                          <p:cTn id="113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2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33" dur="50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40" fill="hold">
                      <p:stCondLst>
                        <p:cond delay="1680"/>
                      </p:stCondLst>
                      <p:childTnLst>
                        <p:par>
                          <p:cTn id="114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2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43" dur="50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50" fill="hold">
                      <p:stCondLst>
                        <p:cond delay="1800"/>
                      </p:stCondLst>
                      <p:childTnLst>
                        <p:par>
                          <p:cTn id="115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2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3" dur="500" fill="hold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60" fill="hold">
                      <p:stCondLst>
                        <p:cond delay="1920"/>
                      </p:stCondLst>
                      <p:childTnLst>
                        <p:par>
                          <p:cTn id="116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2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63" dur="50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70" fill="hold">
                      <p:stCondLst>
                        <p:cond delay="2040"/>
                      </p:stCondLst>
                      <p:childTnLst>
                        <p:par>
                          <p:cTn id="117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2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3" dur="500" fill="hold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80" fill="hold">
                      <p:stCondLst>
                        <p:cond delay="2160"/>
                      </p:stCondLst>
                      <p:childTnLst>
                        <p:par>
                          <p:cTn id="118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82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83" dur="50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90" fill="hold">
                      <p:stCondLst>
                        <p:cond delay="2280"/>
                      </p:stCondLst>
                      <p:childTnLst>
                        <p:par>
                          <p:cTn id="1191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2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93" dur="500" fill="hold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TwoBreath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TwoBreath · Partnership Invitation · Life Summit Berlin 2026</dc:title>
  <dc:subject>Two souls. One bond. Looking for partners — DiGA, insurers, longevity, breath educators.</dc:subject>
  <dc:creator>TwoBreath — Matthias &amp; Dario</dc:creator>
  <cp:lastModifiedBy>TwoBreath — Matthias &amp; Dario</cp:lastModifiedBy>
  <cp:revision>1</cp:revision>
  <dcterms:created xsi:type="dcterms:W3CDTF">2026-05-01T16:13:43Z</dcterms:created>
  <dcterms:modified xsi:type="dcterms:W3CDTF">2026-05-01T16:13:43Z</dcterms:modified>
</cp:coreProperties>
</file>